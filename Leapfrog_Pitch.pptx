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eapfro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607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spc="-100" kern="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D5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competitor radar for small businesses.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023360" y="3657600"/>
            <a:ext cx="1097280" cy="0"/>
          </a:xfrm>
          <a:prstGeom prst="line">
            <a:avLst/>
          </a:prstGeom>
          <a:noFill/>
          <a:ln w="12700">
            <a:solidFill>
              <a:srgbClr val="2D5A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Lovable Hackathon  · 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08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spc="-300" kern="0" dirty="0">
                <a:solidFill>
                  <a:srgbClr val="2D5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33M+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280160" y="2971800"/>
            <a:ext cx="2468880" cy="0"/>
          </a:xfrm>
          <a:prstGeom prst="line">
            <a:avLst/>
          </a:prstGeom>
          <a:noFill/>
          <a:ln w="19050">
            <a:solidFill>
              <a:srgbClr val="D95D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businesses in the 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competing on Instagram, Google Business, and Facebook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spc="-300" kern="0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0" dirty="0"/>
          </a:p>
        </p:txBody>
      </p:sp>
      <p:sp>
        <p:nvSpPr>
          <p:cNvPr id="8" name="Shape 6"/>
          <p:cNvSpPr/>
          <p:nvPr/>
        </p:nvSpPr>
        <p:spPr>
          <a:xfrm>
            <a:off x="5394960" y="2971800"/>
            <a:ext cx="2468880" cy="0"/>
          </a:xfrm>
          <a:prstGeom prst="line">
            <a:avLst/>
          </a:prstGeom>
          <a:noFill/>
          <a:ln w="19050">
            <a:solidFill>
              <a:srgbClr val="2D5A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competitors per local market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 many to scroll manually, too few to ignore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0" cy="210312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08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 are flying blind in markets where the signals are public.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 competitor awareness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competitor awareness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marketing capacity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 marketing capacity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3017520"/>
            <a:ext cx="4937760" cy="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0" cy="310896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63040"/>
            <a:ext cx="0" cy="3108960"/>
          </a:xfrm>
          <a:prstGeom prst="line">
            <a:avLst/>
          </a:prstGeom>
          <a:noFill/>
          <a:ln w="19050">
            <a:solidFill>
              <a:srgbClr val="5A6660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28800" y="3017520"/>
            <a:ext cx="4937760" cy="0"/>
          </a:xfrm>
          <a:prstGeom prst="line">
            <a:avLst/>
          </a:prstGeom>
          <a:noFill/>
          <a:ln w="19050">
            <a:solidFill>
              <a:srgbClr val="5A666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2103120"/>
            <a:ext cx="1371600" cy="1371600"/>
          </a:xfrm>
          <a:prstGeom prst="ellipse">
            <a:avLst/>
          </a:prstGeom>
          <a:solidFill>
            <a:srgbClr val="5A6660">
              <a:alpha val="20000"/>
            </a:srgbClr>
          </a:solidFill>
          <a:ln w="12700">
            <a:solidFill>
              <a:srgbClr val="5A66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Analyst hire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$400+/mo, flaky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291840"/>
            <a:ext cx="1371600" cy="1371600"/>
          </a:xfrm>
          <a:prstGeom prst="ellipse">
            <a:avLst/>
          </a:prstGeom>
          <a:solidFill>
            <a:srgbClr val="5A6660">
              <a:alpha val="20000"/>
            </a:srgbClr>
          </a:solidFill>
          <a:ln w="12700">
            <a:solidFill>
              <a:srgbClr val="5A6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scrolling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1371600" cy="1371600"/>
          </a:xfrm>
          <a:prstGeom prst="ellipse">
            <a:avLst/>
          </a:prstGeom>
          <a:solidFill>
            <a:srgbClr val="5A6660">
              <a:alpha val="20000"/>
            </a:srgbClr>
          </a:solidFill>
          <a:ln w="12700">
            <a:solidFill>
              <a:srgbClr val="5A6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tools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1737360" cy="1737360"/>
          </a:xfrm>
          <a:prstGeom prst="ellipse">
            <a:avLst/>
          </a:prstGeom>
          <a:solidFill>
            <a:srgbClr val="2D5A41"/>
          </a:solidFill>
          <a:ln w="25400">
            <a:solidFill>
              <a:srgbClr val="1F3F2D"/>
            </a:solidFill>
            <a:prstDash val="solid"/>
          </a:ln>
        </p:spPr>
      </p:sp>
      <p:pic>
        <p:nvPicPr>
          <p:cNvPr id="19" name="Image 0" descr="/tmp/leapfro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057400"/>
            <a:ext cx="914400" cy="8869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FC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8EF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$50/mo · self-serve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315200" y="1463040"/>
            <a:ext cx="978408" cy="256032"/>
          </a:xfrm>
          <a:prstGeom prst="roundRect">
            <a:avLst>
              <a:gd name="adj" fmla="val 50000"/>
            </a:avLst>
          </a:prstGeom>
          <a:solidFill>
            <a:srgbClr val="FBE7DE"/>
          </a:solidFill>
          <a:ln w="12700">
            <a:solidFill>
              <a:srgbClr val="FBE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146304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WEDGE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315200" y="18288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Self-serve, small-business priced, weekly digest.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the 70 posts. Surfaces the 6 that matter.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08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by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one-person team that's tired of scrolling Instagram for clients.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4114800" cy="2286000"/>
          </a:xfrm>
          <a:prstGeom prst="rect">
            <a:avLst/>
          </a:prstGeom>
          <a:solidFill>
            <a:srgbClr val="FCFCFB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51760"/>
            <a:ext cx="1371600" cy="1371600"/>
          </a:xfrm>
          <a:prstGeom prst="ellipse">
            <a:avLst/>
          </a:prstGeom>
          <a:solidFill>
            <a:srgbClr val="E8EFE9"/>
          </a:solidFill>
          <a:ln w="19050">
            <a:solidFill>
              <a:srgbClr val="2D5A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D5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37744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Zac Allen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Founder · Builder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3566160"/>
            <a:ext cx="1463040" cy="0"/>
          </a:xfrm>
          <a:prstGeom prst="line">
            <a:avLst/>
          </a:prstGeom>
          <a:noFill/>
          <a:ln w="12700">
            <a:solidFill>
              <a:srgbClr val="E5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Shipped the scraping + LLM pipeline as a weekend wedge into local SMB tooling.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8EFE9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94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ALREADY SHIPPED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46320" y="2651760"/>
            <a:ext cx="164592" cy="164592"/>
          </a:xfrm>
          <a:prstGeom prst="ellipse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Scraping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807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Instagram-first, residential proxies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164592" cy="164592"/>
          </a:xfrm>
          <a:prstGeom prst="ellipse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classification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264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signal types, confidence scoring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164592" cy="164592"/>
          </a:xfrm>
          <a:prstGeom prst="ellipse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digest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721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 + dashboard timeline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4023360"/>
            <a:ext cx="164592" cy="164592"/>
          </a:xfrm>
          <a:prstGeom prst="ellipse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live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4178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leapfrog.app — Lovable Hackathon build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08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D5A41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CFC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inbox.</a:t>
            </a:r>
            <a:endParaRPr lang="en-US" sz="4400" dirty="0"/>
          </a:p>
          <a:p>
            <a:pPr indent="0" marL="0">
              <a:buNone/>
            </a:pPr>
            <a:r>
              <a:rPr lang="en-US" sz="4400" i="1" dirty="0">
                <a:solidFill>
                  <a:srgbClr val="FBE7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move that matters.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Paste 5–20 competitor handles. We read every new post, classify the signal, weigh it against engagement baselines, and ship you a Monday digest with the six things that actually moved.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640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E7D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TYPES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743200" cy="0"/>
          </a:xfrm>
          <a:prstGeom prst="line">
            <a:avLst/>
          </a:prstGeom>
          <a:noFill/>
          <a:ln w="9525">
            <a:solidFill>
              <a:srgbClr val="D95D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launch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743200" cy="0"/>
          </a:xfrm>
          <a:prstGeom prst="line">
            <a:avLst/>
          </a:prstGeom>
          <a:noFill/>
          <a:ln w="9525">
            <a:solidFill>
              <a:srgbClr val="D95D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Promo / discount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103120"/>
            <a:ext cx="2743200" cy="0"/>
          </a:xfrm>
          <a:prstGeom prst="line">
            <a:avLst/>
          </a:prstGeom>
          <a:noFill/>
          <a:ln w="9525">
            <a:solidFill>
              <a:srgbClr val="D95D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Price change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606040"/>
            <a:ext cx="2743200" cy="0"/>
          </a:xfrm>
          <a:prstGeom prst="line">
            <a:avLst/>
          </a:prstGeom>
          <a:noFill/>
          <a:ln w="9525">
            <a:solidFill>
              <a:srgbClr val="D95D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Menu addition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108960"/>
            <a:ext cx="2743200" cy="0"/>
          </a:xfrm>
          <a:prstGeom prst="line">
            <a:avLst/>
          </a:prstGeom>
          <a:noFill/>
          <a:ln w="9525">
            <a:solidFill>
              <a:srgbClr val="D95D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Rebrand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611880"/>
            <a:ext cx="2743200" cy="0"/>
          </a:xfrm>
          <a:prstGeom prst="line">
            <a:avLst/>
          </a:prstGeom>
          <a:noFill/>
          <a:ln w="9525">
            <a:solidFill>
              <a:srgbClr val="D95D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2743200" cy="0"/>
          </a:xfrm>
          <a:prstGeom prst="line">
            <a:avLst/>
          </a:prstGeom>
          <a:noFill/>
          <a:ln w="9525">
            <a:solidFill>
              <a:srgbClr val="D95D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E8EF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BE7D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Inside 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surfaces, one weekly habit.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200400"/>
          </a:xfrm>
          <a:prstGeom prst="rect">
            <a:avLst/>
          </a:prstGeom>
          <a:solidFill>
            <a:srgbClr val="FCFCFB"/>
          </a:solidFill>
          <a:ln w="12700">
            <a:solidFill>
              <a:srgbClr val="E5E2D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128016" cy="128016"/>
          </a:xfrm>
          <a:prstGeom prst="ellipse">
            <a:avLst/>
          </a:prstGeom>
          <a:solidFill>
            <a:srgbClr val="E2A0A0"/>
          </a:solidFill>
          <a:ln w="12700">
            <a:solidFill>
              <a:srgbClr val="E2A0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90472"/>
            <a:ext cx="128016" cy="128016"/>
          </a:xfrm>
          <a:prstGeom prst="ellipse">
            <a:avLst/>
          </a:prstGeom>
          <a:solidFill>
            <a:srgbClr val="E2C58D"/>
          </a:solidFill>
          <a:ln w="12700">
            <a:solidFill>
              <a:srgbClr val="E2C5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490472"/>
            <a:ext cx="128016" cy="128016"/>
          </a:xfrm>
          <a:prstGeom prst="ellipse">
            <a:avLst/>
          </a:prstGeom>
          <a:solidFill>
            <a:srgbClr val="A8C9A6"/>
          </a:solidFill>
          <a:ln w="12700">
            <a:solidFill>
              <a:srgbClr val="A8C9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26517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 7:02 AM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week, the 6 that mattered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96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@bluebird.cafe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20240" y="2505456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BE7DE"/>
          </a:solidFill>
          <a:ln w="12700">
            <a:solidFill>
              <a:srgbClr val="FBE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5054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 Fri–Sun flash sale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2907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@parkside.gym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0240" y="2916936"/>
            <a:ext cx="758952" cy="256032"/>
          </a:xfrm>
          <a:prstGeom prst="roundRect">
            <a:avLst>
              <a:gd name="adj" fmla="val 50000"/>
            </a:avLst>
          </a:prstGeom>
          <a:solidFill>
            <a:srgbClr val="FBE7DE"/>
          </a:solidFill>
          <a:ln w="12700">
            <a:solidFill>
              <a:srgbClr val="FBE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91693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0906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 first month offer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3319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@oak.boutique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20240" y="3328416"/>
            <a:ext cx="832104" cy="256032"/>
          </a:xfrm>
          <a:prstGeom prst="roundRect">
            <a:avLst>
              <a:gd name="adj" fmla="val 50000"/>
            </a:avLst>
          </a:prstGeom>
          <a:solidFill>
            <a:srgbClr val="FBE7DE"/>
          </a:solidFill>
          <a:ln w="12700">
            <a:solidFill>
              <a:srgbClr val="FBE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328416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REBRAND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35021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logo + name reveal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37307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@morning.beans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20240" y="3739896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BE7DE"/>
          </a:solidFill>
          <a:ln w="12700">
            <a:solidFill>
              <a:srgbClr val="FBE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7398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Pop-up tasting Thursday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digest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signals, one inbox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1325880"/>
            <a:ext cx="2651760" cy="3200400"/>
          </a:xfrm>
          <a:prstGeom prst="rect">
            <a:avLst/>
          </a:prstGeom>
          <a:solidFill>
            <a:srgbClr val="FCFCFB"/>
          </a:solidFill>
          <a:ln w="12700">
            <a:solidFill>
              <a:srgbClr val="E5E2D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10712" y="1490472"/>
            <a:ext cx="128016" cy="128016"/>
          </a:xfrm>
          <a:prstGeom prst="ellipse">
            <a:avLst/>
          </a:prstGeom>
          <a:solidFill>
            <a:srgbClr val="E2A0A0"/>
          </a:solidFill>
          <a:ln w="12700">
            <a:solidFill>
              <a:srgbClr val="E2A0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75304" y="1490472"/>
            <a:ext cx="128016" cy="128016"/>
          </a:xfrm>
          <a:prstGeom prst="ellipse">
            <a:avLst/>
          </a:prstGeom>
          <a:solidFill>
            <a:srgbClr val="E2C58D"/>
          </a:solidFill>
          <a:ln w="12700">
            <a:solidFill>
              <a:srgbClr val="E2C58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39896" y="1490472"/>
            <a:ext cx="128016" cy="128016"/>
          </a:xfrm>
          <a:prstGeom prst="ellipse">
            <a:avLst/>
          </a:prstGeom>
          <a:solidFill>
            <a:srgbClr val="A8C9A6"/>
          </a:solidFill>
          <a:ln w="12700">
            <a:solidFill>
              <a:srgbClr val="A8C9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1783080"/>
            <a:ext cx="26517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COMPETITORS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290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month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29000" y="2971800"/>
            <a:ext cx="164592" cy="45720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75888" y="2606040"/>
            <a:ext cx="164592" cy="822960"/>
          </a:xfrm>
          <a:prstGeom prst="rect">
            <a:avLst/>
          </a:prstGeom>
          <a:solidFill>
            <a:srgbClr val="2D5A41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22776" y="2148840"/>
            <a:ext cx="164592" cy="1280160"/>
          </a:xfrm>
          <a:prstGeom prst="rect">
            <a:avLst/>
          </a:prstGeom>
          <a:solidFill>
            <a:srgbClr val="2D5A41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69664" y="2788920"/>
            <a:ext cx="164592" cy="64008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16552" y="2423160"/>
            <a:ext cx="164592" cy="1005840"/>
          </a:xfrm>
          <a:prstGeom prst="rect">
            <a:avLst/>
          </a:prstGeom>
          <a:solidFill>
            <a:srgbClr val="2D5A41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783080"/>
            <a:ext cx="164592" cy="1645920"/>
          </a:xfrm>
          <a:prstGeom prst="rect">
            <a:avLst/>
          </a:prstGeom>
          <a:solidFill>
            <a:srgbClr val="2D5A41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0328" y="2240280"/>
            <a:ext cx="164592" cy="118872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57216" y="2697480"/>
            <a:ext cx="164592" cy="731520"/>
          </a:xfrm>
          <a:prstGeom prst="rect">
            <a:avLst/>
          </a:prstGeom>
          <a:solidFill>
            <a:srgbClr val="2D5A41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0" y="3447288"/>
            <a:ext cx="2286000" cy="0"/>
          </a:xfrm>
          <a:prstGeom prst="line">
            <a:avLst/>
          </a:prstGeom>
          <a:noFill/>
          <a:ln w="6350">
            <a:solidFill>
              <a:srgbClr val="E5E2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4× engagement spike at @parkside.gym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29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Likely a paid boost — match window: 7 days.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4612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Radar dashboard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246120" y="4892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Timeline of every signal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35040" y="1325880"/>
            <a:ext cx="2651760" cy="3200400"/>
          </a:xfrm>
          <a:prstGeom prst="rect">
            <a:avLst/>
          </a:prstGeom>
          <a:solidFill>
            <a:srgbClr val="FCFCFB"/>
          </a:solidFill>
          <a:ln w="12700">
            <a:solidFill>
              <a:srgbClr val="E5E2D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99632" y="1490472"/>
            <a:ext cx="128016" cy="128016"/>
          </a:xfrm>
          <a:prstGeom prst="ellipse">
            <a:avLst/>
          </a:prstGeom>
          <a:solidFill>
            <a:srgbClr val="E2A0A0"/>
          </a:solidFill>
          <a:ln w="12700">
            <a:solidFill>
              <a:srgbClr val="E2A0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64224" y="1490472"/>
            <a:ext cx="128016" cy="128016"/>
          </a:xfrm>
          <a:prstGeom prst="ellipse">
            <a:avLst/>
          </a:prstGeom>
          <a:solidFill>
            <a:srgbClr val="E2C58D"/>
          </a:solidFill>
          <a:ln w="12700">
            <a:solidFill>
              <a:srgbClr val="E2C58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28816" y="1490472"/>
            <a:ext cx="128016" cy="128016"/>
          </a:xfrm>
          <a:prstGeom prst="ellipse">
            <a:avLst/>
          </a:prstGeom>
          <a:solidFill>
            <a:srgbClr val="A8C9A6"/>
          </a:solidFill>
          <a:ln w="12700">
            <a:solidFill>
              <a:srgbClr val="A8C9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1783080"/>
            <a:ext cx="265176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WATCHING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217920" y="2231136"/>
            <a:ext cx="201168" cy="201168"/>
          </a:xfrm>
          <a:prstGeom prst="ellipse">
            <a:avLst/>
          </a:prstGeom>
          <a:solidFill>
            <a:srgbClr val="E8EFE9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@bluebird.cafe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46720" y="2231136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EFE9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0" y="2231136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2560320"/>
            <a:ext cx="201168" cy="201168"/>
          </a:xfrm>
          <a:prstGeom prst="ellipse">
            <a:avLst/>
          </a:prstGeom>
          <a:solidFill>
            <a:srgbClr val="E8EFE9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2523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@parkside.gym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46720" y="2560320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EFE9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46720" y="256032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2889504"/>
            <a:ext cx="201168" cy="201168"/>
          </a:xfrm>
          <a:prstGeom prst="ellipse">
            <a:avLst/>
          </a:prstGeom>
          <a:solidFill>
            <a:srgbClr val="E8EFE9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@oak.boutique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46720" y="2889504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EFE9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46720" y="2889504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17920" y="3218688"/>
            <a:ext cx="201168" cy="201168"/>
          </a:xfrm>
          <a:prstGeom prst="ellipse">
            <a:avLst/>
          </a:prstGeom>
          <a:solidFill>
            <a:srgbClr val="E8EFE9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@morning.beans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46720" y="3218688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EFE9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46720" y="321868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17920" y="3547872"/>
            <a:ext cx="201168" cy="201168"/>
          </a:xfrm>
          <a:prstGeom prst="ellipse">
            <a:avLst/>
          </a:prstGeom>
          <a:solidFill>
            <a:srgbClr val="E8EFE9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9224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@northside.spa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046720" y="3547872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EFE9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46720" y="3547872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217920" y="3877056"/>
            <a:ext cx="201168" cy="201168"/>
          </a:xfrm>
          <a:prstGeom prst="ellipse">
            <a:avLst/>
          </a:prstGeom>
          <a:solidFill>
            <a:srgbClr val="E8EFE9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922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@river.dental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046720" y="3877056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EFE9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46720" y="3877056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03504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list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035040" y="4892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5–20 handles, done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08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&amp; monetization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Wedge into local SMBs. Expand by depth, then breadth.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CFCFB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$30 / 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competitors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224028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300K+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 indie F&amp;B locations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Independent cafés &amp; restaurants — Austin, Portland, Brooklyn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FCFCFB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2D5A41"/>
          </a:solidFill>
          <a:ln w="12700">
            <a:solidFill>
              <a:srgbClr val="2D5A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5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A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$60 / 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competitors, IG+FB+GBP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3063240"/>
            <a:ext cx="224028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5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$5M+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5661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 at 1% wedge penetration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Boutique retail, gyms, salons — multi-channel coverage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FCFCFB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71600"/>
            <a:ext cx="2697480" cy="73152"/>
          </a:xfrm>
          <a:prstGeom prst="rect">
            <a:avLst/>
          </a:prstGeom>
          <a:solidFill>
            <a:srgbClr val="1A1F1B"/>
          </a:solidFill>
          <a:ln w="12700">
            <a:solidFill>
              <a:srgbClr val="1A1F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4652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46520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$100 / 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 competitors, API access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3063240"/>
            <a:ext cx="2240280" cy="0"/>
          </a:xfrm>
          <a:prstGeom prst="line">
            <a:avLst/>
          </a:prstGeom>
          <a:noFill/>
          <a:ln w="9525">
            <a:solidFill>
              <a:srgbClr val="E5E2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33M+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4465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 small businesses — long-term TAM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4652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F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marketing agencies + POS reseller partnerships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08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eapfro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128016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-100" kern="0" dirty="0">
                <a:solidFill>
                  <a:srgbClr val="FCFC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competitor radar for small businesses.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3520440"/>
            <a:ext cx="1097280" cy="0"/>
          </a:xfrm>
          <a:prstGeom prst="line">
            <a:avLst/>
          </a:prstGeom>
          <a:noFill/>
          <a:ln w="19050">
            <a:solidFill>
              <a:srgbClr val="D95D3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the build · leapfrog.app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03520" y="914400"/>
            <a:ext cx="3383280" cy="960120"/>
          </a:xfrm>
          <a:prstGeom prst="rect">
            <a:avLst/>
          </a:prstGeom>
          <a:solidFill>
            <a:srgbClr val="1F3F2D"/>
          </a:solidFill>
          <a:ln w="9525">
            <a:solidFill>
              <a:srgbClr val="2D5A4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0" y="914400"/>
            <a:ext cx="73152" cy="96012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1024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FC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the app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32120" y="1353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Lovable Hackathon build, live now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3212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FBE7D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leapfrog.app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0" y="2057400"/>
            <a:ext cx="3383280" cy="960120"/>
          </a:xfrm>
          <a:prstGeom prst="rect">
            <a:avLst/>
          </a:prstGeom>
          <a:solidFill>
            <a:srgbClr val="1F3F2D"/>
          </a:solidFill>
          <a:ln w="9525">
            <a:solidFill>
              <a:srgbClr val="2D5A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03520" y="2057400"/>
            <a:ext cx="73152" cy="96012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2167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FC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along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3212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Zac Allen on LinkedIn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32120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FBE7D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@zacallen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03520" y="3200400"/>
            <a:ext cx="3383280" cy="960120"/>
          </a:xfrm>
          <a:prstGeom prst="rect">
            <a:avLst/>
          </a:prstGeom>
          <a:solidFill>
            <a:srgbClr val="1F3F2D"/>
          </a:solidFill>
          <a:ln w="9525">
            <a:solidFill>
              <a:srgbClr val="2D5A4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3200400"/>
            <a:ext cx="73152" cy="96012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FC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532120" y="3639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 resellers, local agencies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321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FBE7D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zac@leapfrog.app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5A66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08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D95D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LOVABLE HACKATHON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Leapfrog</dc:title>
  <dc:subject>PptxGenJS Presentation</dc:subject>
  <dc:creator>Zac Allen</dc:creator>
  <cp:lastModifiedBy>Zac Allen</cp:lastModifiedBy>
  <cp:revision>1</cp:revision>
  <dcterms:created xsi:type="dcterms:W3CDTF">2026-05-23T01:05:03Z</dcterms:created>
  <dcterms:modified xsi:type="dcterms:W3CDTF">2026-05-23T01:05:03Z</dcterms:modified>
</cp:coreProperties>
</file>